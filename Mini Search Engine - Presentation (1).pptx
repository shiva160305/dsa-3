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754880" cy="4754880"/>
          </a:xfrm>
          <a:prstGeom prst="ellipse">
            <a:avLst/>
          </a:prstGeom>
          <a:solidFill>
            <a:srgbClr val="222D72"/>
          </a:solidFill>
        </p:spPr>
      </p:sp>
      <p:sp>
        <p:nvSpPr>
          <p:cNvPr id="3" name="Shape 1"/>
          <p:cNvSpPr/>
          <p:nvPr/>
        </p:nvSpPr>
        <p:spPr>
          <a:xfrm>
            <a:off x="9601200" y="3931920"/>
            <a:ext cx="3108960" cy="3108960"/>
          </a:xfrm>
          <a:prstGeom prst="ellipse">
            <a:avLst/>
          </a:prstGeom>
          <a:solidFill>
            <a:srgbClr val="27337F"/>
          </a:solidFill>
        </p:spPr>
      </p:sp>
      <p:sp>
        <p:nvSpPr>
          <p:cNvPr id="4" name="Shape 2"/>
          <p:cNvSpPr/>
          <p:nvPr/>
        </p:nvSpPr>
        <p:spPr>
          <a:xfrm>
            <a:off x="10378440" y="4709160"/>
            <a:ext cx="1554480" cy="1554480"/>
          </a:xfrm>
          <a:prstGeom prst="ellipse">
            <a:avLst/>
          </a:prstGeom>
          <a:solidFill>
            <a:srgbClr val="2C398C"/>
          </a:solidFill>
        </p:spPr>
      </p:sp>
      <p:sp>
        <p:nvSpPr>
          <p:cNvPr id="5" name="Shape 3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2C398C"/>
          </a:solidFill>
        </p:spPr>
      </p:sp>
      <p:pic>
        <p:nvPicPr>
          <p:cNvPr id="6" name="Image 0" descr="/home/claude/ppt/icons/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2412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MINI SEARCH ENGINE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Information Retrieval System Built on Core Data Structures &amp; Algorithms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   ·   KMP   ·   Trie + Levenshtein   ·   TF-IDF   ·   Cosine Similarity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V.Rohith - 2520090029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V.Shiva Venkata Sai - 2520090092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bul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information retrieval is central to how modern systems find relevant data inside large text collections.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implements a Mini Search Engine that indexes and searches a collection of plain text documents.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core component — indexing, pattern matching, correction, and ranking — is built from first principles.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search or IR libraries are used, keeping the focus on practical Data Structures &amp; Algorithms.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supports four distinct query modes, offering a complete, realistic retrieval experience.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0" y="17830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2F5FC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17830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0" y="2816352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2F5FC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28163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0" y="3849624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2F5FC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0" y="3849624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Engine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772400" y="4882896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01000" y="4882896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Results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418320" y="254203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5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18320" y="357530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5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418320" y="460857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5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proj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that efficiently searches and retrieves relevant documents from a text collection, combining classical algorithms for indexing, matching, correction, and relevance ranking — implemented entirely by hand.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2F5FC"/>
          </a:solidFill>
        </p:spPr>
      </p:sp>
      <p:sp>
        <p:nvSpPr>
          <p:cNvPr id="9" name="Shape 6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0" name="Image 1" descr="/home/claude/ppt/icons/list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67919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514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Query Types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45920" y="2898648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keyword, phrase/substring, fuzzy "Did You Mean", and document similarity search.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72200" y="233172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2F5FC"/>
          </a:solidFill>
        </p:spPr>
      </p:sp>
      <p:sp>
        <p:nvSpPr>
          <p:cNvPr id="14" name="Shape 10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5" name="Image 2" descr="/home/claude/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67919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2514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040880" y="2898648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fast keyword lookup across the entire document collection.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7240" y="420624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2F5FC"/>
          </a:solidFill>
        </p:spPr>
      </p:sp>
      <p:sp>
        <p:nvSpPr>
          <p:cNvPr id="19" name="Shape 14"/>
          <p:cNvSpPr/>
          <p:nvPr/>
        </p:nvSpPr>
        <p:spPr>
          <a:xfrm>
            <a:off x="1005840" y="44348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0" name="Image 3" descr="/home/claude/ppt/icons/f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55371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3891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 + Trie / Levenshtein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45920" y="4773168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phrase matching, plus spelling correction and query suggestions.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172200" y="420624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2F5FC"/>
          </a:solidFill>
        </p:spPr>
      </p:sp>
      <p:sp>
        <p:nvSpPr>
          <p:cNvPr id="24" name="Shape 18"/>
          <p:cNvSpPr/>
          <p:nvPr/>
        </p:nvSpPr>
        <p:spPr>
          <a:xfrm>
            <a:off x="6400800" y="44348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5" name="Image 4" descr="/home/claude/ppt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55371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43891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+ Cosine Similarity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040880" y="4773168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Ranks search results by relevance using vector-based scoring.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algorithms are implemented manually, with time and space complexity evaluated for each.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FOUNDATIONAL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60934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F2F5FC"/>
          </a:solidFill>
        </p:spPr>
      </p:sp>
      <p:sp>
        <p:nvSpPr>
          <p:cNvPr id="8" name="Text 5"/>
          <p:cNvSpPr/>
          <p:nvPr/>
        </p:nvSpPr>
        <p:spPr>
          <a:xfrm>
            <a:off x="941832" y="160934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67335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197510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structure behind classical IR systems such as Lucene and Elasticsearch for fast keyword lookup.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60934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F2F5FC"/>
          </a:solidFill>
        </p:spPr>
      </p:sp>
      <p:sp>
        <p:nvSpPr>
          <p:cNvPr id="12" name="Text 9"/>
          <p:cNvSpPr/>
          <p:nvPr/>
        </p:nvSpPr>
        <p:spPr>
          <a:xfrm>
            <a:off x="6428232" y="160934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49440" y="167335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 Algorithm (Knuth–Morris–Pratt, 1977)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197510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Linear-time O(n+m) pattern matching that avoids re-scanning the text.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7240" y="302666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E7EDFA"/>
          </a:solidFill>
        </p:spPr>
      </p:sp>
      <p:sp>
        <p:nvSpPr>
          <p:cNvPr id="16" name="Text 13"/>
          <p:cNvSpPr/>
          <p:nvPr/>
        </p:nvSpPr>
        <p:spPr>
          <a:xfrm>
            <a:off x="941832" y="302666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63040" y="309067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Levenshtein Distance (1965)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63040" y="339242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Edit-distance metric underlying modern spelling correction and "Did You Mean" features.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302666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E7EDFA"/>
          </a:solidFill>
        </p:spPr>
      </p:sp>
      <p:sp>
        <p:nvSpPr>
          <p:cNvPr id="20" name="Text 17"/>
          <p:cNvSpPr/>
          <p:nvPr/>
        </p:nvSpPr>
        <p:spPr>
          <a:xfrm>
            <a:off x="6428232" y="302666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49440" y="309067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Data Structure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49440" y="339242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 tree enabling fast lookup and autocomplete over large vocabularies.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7240" y="444398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F2F5FC"/>
          </a:solidFill>
        </p:spPr>
      </p:sp>
      <p:sp>
        <p:nvSpPr>
          <p:cNvPr id="24" name="Text 21"/>
          <p:cNvSpPr/>
          <p:nvPr/>
        </p:nvSpPr>
        <p:spPr>
          <a:xfrm>
            <a:off x="941832" y="444398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63040" y="450799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TF–IDF &amp; Vector Space Model (Salton, 1975)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63040" y="480974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Foundational term-weighting technique for relevance ranking in IR.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63640" y="4443984"/>
            <a:ext cx="5120640" cy="1216152"/>
          </a:xfrm>
          <a:prstGeom prst="roundRect">
            <a:avLst>
              <a:gd name="adj" fmla="val 5263"/>
            </a:avLst>
          </a:prstGeom>
          <a:solidFill>
            <a:srgbClr val="F2F5FC"/>
          </a:solidFill>
        </p:spPr>
      </p:sp>
      <p:sp>
        <p:nvSpPr>
          <p:cNvPr id="28" name="Text 25"/>
          <p:cNvSpPr/>
          <p:nvPr/>
        </p:nvSpPr>
        <p:spPr>
          <a:xfrm>
            <a:off x="6428232" y="4443984"/>
            <a:ext cx="502920" cy="1216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949440" y="450799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49440" y="480974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metric for comparing query and document vectors by angular distance.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STACK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600200"/>
            <a:ext cx="10607040" cy="585216"/>
          </a:xfrm>
          <a:prstGeom prst="rect">
            <a:avLst/>
          </a:prstGeom>
          <a:solidFill>
            <a:srgbClr val="F2F5FC"/>
          </a:solidFill>
        </p:spPr>
      </p:sp>
      <p:sp>
        <p:nvSpPr>
          <p:cNvPr id="8" name="Text 5"/>
          <p:cNvSpPr/>
          <p:nvPr/>
        </p:nvSpPr>
        <p:spPr>
          <a:xfrm>
            <a:off x="1051560" y="1600200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26280" y="1600200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10/11 or Linux (Ubuntu 20.04+)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313432"/>
            <a:ext cx="10607040" cy="5852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1051560" y="2313432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26280" y="2313432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Java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26664"/>
            <a:ext cx="10607040" cy="585216"/>
          </a:xfrm>
          <a:prstGeom prst="rect">
            <a:avLst/>
          </a:prstGeom>
          <a:solidFill>
            <a:srgbClr val="F2F5FC"/>
          </a:solidFill>
        </p:spPr>
      </p:sp>
      <p:sp>
        <p:nvSpPr>
          <p:cNvPr id="14" name="Text 11"/>
          <p:cNvSpPr/>
          <p:nvPr/>
        </p:nvSpPr>
        <p:spPr>
          <a:xfrm>
            <a:off x="1051560" y="3026664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/ Editor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26280" y="3026664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Code, or IntelliJ IDEA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3739896"/>
            <a:ext cx="10607040" cy="585216"/>
          </a:xfrm>
          <a:prstGeom prst="rect">
            <a:avLst/>
          </a:prstGeom>
          <a:solidFill>
            <a:srgbClr val="FFFFFF"/>
          </a:solidFill>
        </p:spPr>
        <p:txBody>
          <a:bodyPr/>
          <a:p>
            <a:endParaRPr lang="en-GB" altLang="en-US"/>
          </a:p>
        </p:txBody>
      </p:sp>
      <p:sp>
        <p:nvSpPr>
          <p:cNvPr id="17" name="Text 14"/>
          <p:cNvSpPr/>
          <p:nvPr/>
        </p:nvSpPr>
        <p:spPr>
          <a:xfrm>
            <a:off x="1051560" y="3739896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Used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26280" y="3739896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library only — no external search/IR packages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4453128"/>
            <a:ext cx="10607040" cy="585216"/>
          </a:xfrm>
          <a:prstGeom prst="rect">
            <a:avLst/>
          </a:prstGeom>
          <a:solidFill>
            <a:srgbClr val="F2F5FC"/>
          </a:solidFill>
        </p:spPr>
      </p:sp>
      <p:sp>
        <p:nvSpPr>
          <p:cNvPr id="20" name="Text 17"/>
          <p:cNvSpPr/>
          <p:nvPr/>
        </p:nvSpPr>
        <p:spPr>
          <a:xfrm>
            <a:off x="1051560" y="4453128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26280" y="4453128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7240" y="5166360"/>
            <a:ext cx="10607040" cy="5852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>
            <a:off x="1051560" y="5166360"/>
            <a:ext cx="3291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26280" y="5166360"/>
            <a:ext cx="6583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Markdown / Microsoft Word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microch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SETUP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Requirements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2F5FC"/>
          </a:solidFill>
        </p:spPr>
      </p:sp>
      <p:sp>
        <p:nvSpPr>
          <p:cNvPr id="8" name="Shape 5"/>
          <p:cNvSpPr/>
          <p:nvPr/>
        </p:nvSpPr>
        <p:spPr>
          <a:xfrm>
            <a:off x="1668780" y="2331720"/>
            <a:ext cx="731520" cy="7315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9" name="Image 1" descr="/home/claude/ppt/icons/microch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516" y="25054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33756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60120" y="370332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 i3 or equivalent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547872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2F5FC"/>
          </a:solidFill>
        </p:spPr>
      </p:sp>
      <p:sp>
        <p:nvSpPr>
          <p:cNvPr id="13" name="Shape 9"/>
          <p:cNvSpPr/>
          <p:nvPr/>
        </p:nvSpPr>
        <p:spPr>
          <a:xfrm>
            <a:off x="4439412" y="2331720"/>
            <a:ext cx="731520" cy="7315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2" descr="/home/claude/ppt/icons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5054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85032" y="333756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730752" y="370332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GB minimum (8 GB recommended)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318504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2F5FC"/>
          </a:solidFill>
        </p:spPr>
      </p:sp>
      <p:sp>
        <p:nvSpPr>
          <p:cNvPr id="18" name="Shape 13"/>
          <p:cNvSpPr/>
          <p:nvPr/>
        </p:nvSpPr>
        <p:spPr>
          <a:xfrm>
            <a:off x="7210044" y="2331720"/>
            <a:ext cx="731520" cy="7315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9" name="Image 3" descr="/home/claude/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50545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5664" y="333756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501384" y="370332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MB free disk space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9089136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2F5FC"/>
          </a:solidFill>
        </p:spPr>
      </p:sp>
      <p:sp>
        <p:nvSpPr>
          <p:cNvPr id="23" name="Shape 17"/>
          <p:cNvSpPr/>
          <p:nvPr/>
        </p:nvSpPr>
        <p:spPr>
          <a:xfrm>
            <a:off x="9980676" y="2331720"/>
            <a:ext cx="731520" cy="7315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4" name="Image 4" descr="/home/claude/ppt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50545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26296" y="333756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272016" y="370332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1366 × 768 resolution or higher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· 1 OF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Methodology: System Architecture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F2F5FC"/>
          </a:solidFill>
        </p:spPr>
      </p:sp>
      <p:sp>
        <p:nvSpPr>
          <p:cNvPr id="8" name="Shape 5"/>
          <p:cNvSpPr/>
          <p:nvPr/>
        </p:nvSpPr>
        <p:spPr>
          <a:xfrm>
            <a:off x="1373124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3124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raw .txt files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07920" y="361188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5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72512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F2F5FC"/>
          </a:solidFill>
        </p:spPr>
      </p:sp>
      <p:sp>
        <p:nvSpPr>
          <p:cNvPr id="14" name="Shape 11"/>
          <p:cNvSpPr/>
          <p:nvPr/>
        </p:nvSpPr>
        <p:spPr>
          <a:xfrm>
            <a:off x="3168396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68396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63952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63952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 &amp; normalize text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203192" y="361188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5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367784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F2F5FC"/>
          </a:solidFill>
        </p:spPr>
      </p:sp>
      <p:sp>
        <p:nvSpPr>
          <p:cNvPr id="20" name="Shape 17"/>
          <p:cNvSpPr/>
          <p:nvPr/>
        </p:nvSpPr>
        <p:spPr>
          <a:xfrm>
            <a:off x="4963668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3668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459224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59224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inverted index &amp; trie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98464" y="361188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5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63056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F2F5FC"/>
          </a:solidFill>
        </p:spPr>
      </p:sp>
      <p:sp>
        <p:nvSpPr>
          <p:cNvPr id="26" name="Shape 23"/>
          <p:cNvSpPr/>
          <p:nvPr/>
        </p:nvSpPr>
        <p:spPr>
          <a:xfrm>
            <a:off x="6758940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58940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54496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54496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query type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793736" y="361188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5"/>
                </a:solidFill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958328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F2F5FC"/>
          </a:solidFill>
        </p:spPr>
      </p:sp>
      <p:sp>
        <p:nvSpPr>
          <p:cNvPr id="32" name="Shape 29"/>
          <p:cNvSpPr/>
          <p:nvPr/>
        </p:nvSpPr>
        <p:spPr>
          <a:xfrm>
            <a:off x="8554212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54212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049768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49768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 / fuzzy / TF-IDF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589008" y="361188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5"/>
                </a:solidFill>
              </a:rPr>
              <a:t>→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753600" y="2743200"/>
            <a:ext cx="1630680" cy="2103120"/>
          </a:xfrm>
          <a:prstGeom prst="roundRect">
            <a:avLst>
              <a:gd name="adj" fmla="val 4486"/>
            </a:avLst>
          </a:prstGeom>
          <a:solidFill>
            <a:srgbClr val="1E2761"/>
          </a:solidFill>
        </p:spPr>
      </p:sp>
      <p:sp>
        <p:nvSpPr>
          <p:cNvPr id="38" name="Shape 35"/>
          <p:cNvSpPr/>
          <p:nvPr/>
        </p:nvSpPr>
        <p:spPr>
          <a:xfrm>
            <a:off x="10349484" y="2523744"/>
            <a:ext cx="438912" cy="43891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349484" y="2523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845040" y="3108960"/>
            <a:ext cx="1447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845040" y="3886200"/>
            <a:ext cx="1447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ranked documents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 transforms a raw document collection into a queryable, ranked search system — each stage backed by a purpose-built algorithm.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· 2 OF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Methodology: Indexing &amp; Matching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6002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2F5FC"/>
          </a:solidFill>
        </p:spPr>
      </p:sp>
      <p:sp>
        <p:nvSpPr>
          <p:cNvPr id="8" name="Shape 5"/>
          <p:cNvSpPr/>
          <p:nvPr/>
        </p:nvSpPr>
        <p:spPr>
          <a:xfrm>
            <a:off x="105156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9" name="Image 1" descr="/home/claude/ppt/icons/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8562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308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Keyword Search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7280" y="278892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every keyword to the list of documents containing it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once during preprocessing, reused for every query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average O(1) lookup per keyword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16002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2F5FC"/>
          </a:solidFill>
        </p:spPr>
      </p:sp>
      <p:sp>
        <p:nvSpPr>
          <p:cNvPr id="14" name="Shape 10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5" name="Image 2" descr="/home/claude/ppt/icons/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11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18562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Knuth–Morris–Pratt (KMP)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26948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Phrase / Substring Search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83680" y="278892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Pre-computes a failure function for the search pattern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Scans text left-to-right without re-checking characters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 linear O(n + m) time for text length n, pattern 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4" name="Image 0" descr="/home/claude/ppt/icons/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· 3 OF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6152" y="47548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Methodology: Suggestion &amp; Ranking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6002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7EDFA"/>
          </a:solidFill>
        </p:spPr>
      </p:sp>
      <p:sp>
        <p:nvSpPr>
          <p:cNvPr id="8" name="Shape 5"/>
          <p:cNvSpPr/>
          <p:nvPr/>
        </p:nvSpPr>
        <p:spPr>
          <a:xfrm>
            <a:off x="105156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9" name="Image 1" descr="/home/claude/ppt/icons/f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8562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+ Levenshtein Distance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308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 Search — "Did You Mean"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7280" y="278892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stores the vocabulary for fast prefix traversal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Levenshtein edit distance finds the closest matching terms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spelling correction and query suggestions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16002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7EDFA"/>
          </a:solidFill>
        </p:spPr>
      </p:sp>
      <p:sp>
        <p:nvSpPr>
          <p:cNvPr id="14" name="Shape 10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5" name="Image 2" descr="/home/claude/ppt/icons/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011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18562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+ Cosine Similarity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26948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Ranking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83680" y="278892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weights each term by importance across documents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and queries represented as weighted vectors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 ranks documents by vector closeness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C398C"/>
          </a:solidFill>
        </p:spPr>
      </p:sp>
      <p:pic>
        <p:nvPicPr>
          <p:cNvPr id="3" name="Image 0" descr="/home/claude/ppt/icons/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&amp; SPACE COMPLEXITY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16152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Complexity Analysis &amp; Conclusion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10607040" cy="402336"/>
          </a:xfrm>
          <a:prstGeom prst="rect">
            <a:avLst/>
          </a:prstGeom>
          <a:solidFill>
            <a:srgbClr val="2C398C"/>
          </a:solidFill>
        </p:spPr>
      </p:sp>
      <p:sp>
        <p:nvSpPr>
          <p:cNvPr id="7" name="Text 4"/>
          <p:cNvSpPr/>
          <p:nvPr/>
        </p:nvSpPr>
        <p:spPr>
          <a:xfrm>
            <a:off x="1005840" y="14173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/ Structure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97880" y="14173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Complexity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32520" y="1417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 Complexity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1874520"/>
            <a:ext cx="10607040" cy="402336"/>
          </a:xfrm>
          <a:prstGeom prst="rect">
            <a:avLst/>
          </a:prstGeom>
          <a:solidFill>
            <a:srgbClr val="222B72"/>
          </a:solidFill>
        </p:spPr>
      </p:sp>
      <p:sp>
        <p:nvSpPr>
          <p:cNvPr id="11" name="Text 8"/>
          <p:cNvSpPr/>
          <p:nvPr/>
        </p:nvSpPr>
        <p:spPr>
          <a:xfrm>
            <a:off x="1005840" y="18745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 Lookup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97880" y="18745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O(1) average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18745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 · M)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2331720"/>
            <a:ext cx="10607040" cy="402336"/>
          </a:xfrm>
          <a:prstGeom prst="rect">
            <a:avLst/>
          </a:prstGeom>
          <a:solidFill>
            <a:srgbClr val="263180"/>
          </a:solidFill>
        </p:spPr>
      </p:sp>
      <p:sp>
        <p:nvSpPr>
          <p:cNvPr id="15" name="Text 12"/>
          <p:cNvSpPr/>
          <p:nvPr/>
        </p:nvSpPr>
        <p:spPr>
          <a:xfrm>
            <a:off x="1005840" y="23317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 Pattern Search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97880" y="23317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 + m)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32520" y="23317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O(m)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2788920"/>
            <a:ext cx="10607040" cy="402336"/>
          </a:xfrm>
          <a:prstGeom prst="rect">
            <a:avLst/>
          </a:prstGeom>
          <a:solidFill>
            <a:srgbClr val="222B72"/>
          </a:solidFill>
        </p:spPr>
      </p:sp>
      <p:sp>
        <p:nvSpPr>
          <p:cNvPr id="19" name="Text 16"/>
          <p:cNvSpPr/>
          <p:nvPr/>
        </p:nvSpPr>
        <p:spPr>
          <a:xfrm>
            <a:off x="1005840" y="27889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Insert / Search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97880" y="27889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O(L)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732520" y="27889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O(Σ · N · L)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3246120"/>
            <a:ext cx="10607040" cy="402336"/>
          </a:xfrm>
          <a:prstGeom prst="rect">
            <a:avLst/>
          </a:prstGeom>
          <a:solidFill>
            <a:srgbClr val="263180"/>
          </a:solidFill>
        </p:spPr>
      </p:sp>
      <p:sp>
        <p:nvSpPr>
          <p:cNvPr id="23" name="Text 20"/>
          <p:cNvSpPr/>
          <p:nvPr/>
        </p:nvSpPr>
        <p:spPr>
          <a:xfrm>
            <a:off x="1005840" y="32461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Levenshtein Distance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897880" y="32461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O(m · n)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732520" y="32461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O(m · n)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" y="3703320"/>
            <a:ext cx="10607040" cy="402336"/>
          </a:xfrm>
          <a:prstGeom prst="rect">
            <a:avLst/>
          </a:prstGeom>
          <a:solidFill>
            <a:srgbClr val="222B72"/>
          </a:solidFill>
        </p:spPr>
      </p:sp>
      <p:sp>
        <p:nvSpPr>
          <p:cNvPr id="27" name="Text 24"/>
          <p:cNvSpPr/>
          <p:nvPr/>
        </p:nvSpPr>
        <p:spPr>
          <a:xfrm>
            <a:off x="1005840" y="37033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Computation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897880" y="37033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 · V)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732520" y="3703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 · V)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4160520"/>
            <a:ext cx="10607040" cy="402336"/>
          </a:xfrm>
          <a:prstGeom prst="rect">
            <a:avLst/>
          </a:prstGeom>
          <a:solidFill>
            <a:srgbClr val="263180"/>
          </a:solidFill>
        </p:spPr>
      </p:sp>
      <p:sp>
        <p:nvSpPr>
          <p:cNvPr id="31" name="Text 28"/>
          <p:cNvSpPr/>
          <p:nvPr/>
        </p:nvSpPr>
        <p:spPr>
          <a:xfrm>
            <a:off x="1005840" y="41605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 (per doc)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97880" y="416052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O(V)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732520" y="41605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O(V)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77240" y="484632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222B72"/>
          </a:solidFill>
        </p:spPr>
      </p:sp>
      <p:sp>
        <p:nvSpPr>
          <p:cNvPr id="35" name="Text 32"/>
          <p:cNvSpPr/>
          <p:nvPr/>
        </p:nvSpPr>
        <p:spPr>
          <a:xfrm>
            <a:off x="1051560" y="4846320"/>
            <a:ext cx="10058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Mini Search Engine shows how classical DSA — indexing, pattern matching, tries, and vector ranking — combine into an accurate, efficient, and scalable retrieval system for small and medium-sized document collections.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754880" cy="4754880"/>
          </a:xfrm>
          <a:prstGeom prst="ellipse">
            <a:avLst/>
          </a:prstGeom>
          <a:solidFill>
            <a:srgbClr val="222D72"/>
          </a:solidFill>
        </p:spPr>
      </p:sp>
      <p:sp>
        <p:nvSpPr>
          <p:cNvPr id="3" name="Shape 1"/>
          <p:cNvSpPr/>
          <p:nvPr/>
        </p:nvSpPr>
        <p:spPr>
          <a:xfrm>
            <a:off x="9601200" y="3931920"/>
            <a:ext cx="3108960" cy="3108960"/>
          </a:xfrm>
          <a:prstGeom prst="ellipse">
            <a:avLst/>
          </a:prstGeom>
          <a:solidFill>
            <a:srgbClr val="27337F"/>
          </a:solidFill>
        </p:spPr>
      </p:sp>
      <p:sp>
        <p:nvSpPr>
          <p:cNvPr id="4" name="Shape 2"/>
          <p:cNvSpPr/>
          <p:nvPr/>
        </p:nvSpPr>
        <p:spPr>
          <a:xfrm>
            <a:off x="10378440" y="4709160"/>
            <a:ext cx="1554480" cy="1554480"/>
          </a:xfrm>
          <a:prstGeom prst="ellipse">
            <a:avLst/>
          </a:prstGeom>
          <a:solidFill>
            <a:srgbClr val="2C398C"/>
          </a:solidFill>
        </p:spPr>
      </p:sp>
      <p:sp>
        <p:nvSpPr>
          <p:cNvPr id="5" name="Shape 3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rgbClr val="2C398C"/>
          </a:solidFill>
        </p:spPr>
      </p:sp>
      <p:pic>
        <p:nvPicPr>
          <p:cNvPr id="6" name="Image 0" descr="/home/claude/ppt/icons/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Search Engine — Information Retrieval System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4962</Words>
  <Application>WPS Presentation</Application>
  <PresentationFormat>On-screen Show (16:9)</PresentationFormat>
  <Paragraphs>321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WPS_1691586764</cp:lastModifiedBy>
  <cp:revision>2</cp:revision>
  <dcterms:created xsi:type="dcterms:W3CDTF">2026-08-18T03:11:00Z</dcterms:created>
  <dcterms:modified xsi:type="dcterms:W3CDTF">2026-08-28T05:22:07Z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0874444396034089AAB9F7E5097B61A2_12</vt:lpwstr>
  </property>
  <property fmtid="{D5CDD505-2E9C-101B-9397-08002B2CF9AE}" pid="3" name="KSOProductBuildVer">
    <vt:lpwstr>2057-12.2.0.23206</vt:lpwstr>
  </property>
</Properties>
</file>